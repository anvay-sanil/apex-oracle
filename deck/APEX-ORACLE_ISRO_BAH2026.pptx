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5494" y="427586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31093" y="231091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527" y="231413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22323" y="10183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276702" y="3010413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560" y="217085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07456" y="1160955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9590" y="3862412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89302" y="3433555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93977" y="2146436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85740" y="4337649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16798" y="4897126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47717" y="1028872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99440" y="426975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0830" y="1290031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41780" y="2801276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039453" y="62437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15446" y="2509429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56209" y="428014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02233" y="1212002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27016" y="4339344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72505" y="4275998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504485" y="279731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0663" y="4805254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21835" y="2195373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359883" y="2828940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88677" y="1800289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42127" y="1225174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711467" y="543745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46886" y="439322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49426" y="1479921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690366" y="1792117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78462" y="4791978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30425" y="3560836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105156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1E0D0"/>
                </a:solidFill>
                <a:latin typeface="Calibri"/>
              </a:rPr>
              <a:t>BHARATIYA ANTARIKSH HACKATHON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1463040"/>
            <a:ext cx="8412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5200" b="1">
                <a:solidFill>
                  <a:srgbClr val="41E0D0"/>
                </a:solidFill>
                <a:latin typeface="Calibri"/>
              </a:rPr>
              <a:t>APEX</a:t>
            </a:r>
            <a:r>
              <a:rPr sz="5200" b="1">
                <a:solidFill>
                  <a:srgbClr val="FFFFFF"/>
                </a:solidFill>
                <a:latin typeface="Calibri"/>
              </a:rPr>
              <a:t>-ORACLE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14600"/>
            <a:ext cx="795527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ADCFC"/>
                </a:solidFill>
                <a:latin typeface="Calibri"/>
              </a:rPr>
              <a:t>Physics-aware, explainable AI for detecting exoplanets in noisy TESS light curves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3703320"/>
            <a:ext cx="8046720" cy="105156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3840480"/>
            <a:ext cx="7680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41E0D0"/>
                </a:solidFill>
                <a:latin typeface="Calibri"/>
              </a:rPr>
              <a:t>Problem Statement   </a:t>
            </a:r>
            <a:r>
              <a:rPr sz="1200" b="0">
                <a:solidFill>
                  <a:srgbClr val="FFFFFF"/>
                </a:solidFill>
                <a:latin typeface="Calibri"/>
              </a:rPr>
              <a:t>AI-enabled Detection of Exoplanets from Noisy Astronomical Light Curves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224528"/>
            <a:ext cx="76809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41E0D0"/>
                </a:solidFill>
                <a:latin typeface="Calibri"/>
              </a:rPr>
              <a:t>Team   </a:t>
            </a:r>
            <a:r>
              <a:rPr sz="1200" b="0">
                <a:solidFill>
                  <a:srgbClr val="FFFFFF"/>
                </a:solidFill>
                <a:latin typeface="Calibri"/>
              </a:rPr>
              <a:t>[YOUR TEAM NAME]      </a:t>
            </a:r>
            <a:r>
              <a:rPr sz="1200" b="1">
                <a:solidFill>
                  <a:srgbClr val="41E0D0"/>
                </a:solidFill>
                <a:latin typeface="Calibri"/>
              </a:rPr>
              <a:t>Team Leader   </a:t>
            </a:r>
            <a:r>
              <a:rPr sz="1200" b="0">
                <a:solidFill>
                  <a:srgbClr val="FFFFFF"/>
                </a:solidFill>
                <a:latin typeface="Calibri"/>
              </a:rPr>
              <a:t>[YOUR NAME]   </a:t>
            </a:r>
            <a:r>
              <a:rPr sz="1200" b="0">
                <a:solidFill>
                  <a:srgbClr val="9AAED6"/>
                </a:solidFill>
                <a:latin typeface="Calibri"/>
              </a:rPr>
              <a:t>(solo entry)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58577" y="4771584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326919" y="92633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93158" y="26788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812858" y="405976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77831" y="141594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53416" y="469267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13648" y="903644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05235" y="1696917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14677" y="2628151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84852" y="2138985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61767" y="4935266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48160" y="3622683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0839" y="146957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42830" y="1839032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22625" y="2894631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79115" y="169456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14591" y="390824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70473" y="357851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953726" y="261903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51294" y="133024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2724" y="2927763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22177" y="4414405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14631" y="1404100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2555" y="4525389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319401" y="1323419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5386" y="216586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THE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 solo entry, full-stack ownership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417320"/>
            <a:ext cx="8138160" cy="123444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 w="15875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0B1437"/>
                </a:solidFill>
              </a:rPr>
              <a:t>YN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1737360"/>
            <a:ext cx="6675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[YOUR NAME]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09928" y="2212848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Solo participant  -  ML engineering + astro-informatics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292608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ED6"/>
                </a:solidFill>
                <a:latin typeface="Calibri"/>
              </a:rPr>
              <a:t>One person, every hat in the pipeline: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29184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19856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Data &amp; detrending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18688" y="329184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01568" y="3419856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Transformer modeling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34456" y="3291840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17336" y="3419856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Bayesian physics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005072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133087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False-positive vetting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18688" y="4005072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1568" y="4133087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Explainability (XAI)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34456" y="4005072"/>
            <a:ext cx="2606040" cy="54864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17336" y="4133087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Live demo &amp;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23869" y="2778713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339490" y="295954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96287" y="2811082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305527" y="4221685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07162" y="1236615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779729" y="3751563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71686" y="302721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505849" y="3028170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45515" y="204167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93566" y="1896288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35886" y="485874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55219" y="2170970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77601" y="2103951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02763" y="4678350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06802" y="89678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98529" y="2901556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45672" y="1410241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43721" y="497886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8358" y="4521085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80676" y="440095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16538" y="1956949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52538" y="1469437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66430" y="471502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96528" y="1531352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1712" y="437632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30996" y="434634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THE 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Why APEX-ORACLE is different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463040"/>
            <a:ext cx="2606040" cy="31546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1520" y="1691640"/>
            <a:ext cx="384048" cy="38404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22402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1E0D0"/>
                </a:solidFill>
                <a:latin typeface="Calibri"/>
              </a:rPr>
              <a:t>Different from existing ideas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063240"/>
            <a:ext cx="2148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Most entries are black-box CNNs that only flag a brightness dip. APEX-ORACLE also classifies the signal, returns physical parameters with confidence, and shows visual reasons for every call.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27832" y="1463040"/>
            <a:ext cx="2606040" cy="31546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456432" y="1691640"/>
            <a:ext cx="384048" cy="38404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22402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1E0D0"/>
                </a:solidFill>
                <a:latin typeface="Calibri"/>
              </a:rPr>
              <a:t>How it solves the problem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3063240"/>
            <a:ext cx="2148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GP detrending preserves shallow transits, a multimodal model plus centroid vetting rejects blended false positives, and a differentiable transit model recovers parameters - even single transits.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52744" y="1463040"/>
            <a:ext cx="2606040" cy="31546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 w="15875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81344" y="1691640"/>
            <a:ext cx="384048" cy="38404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344" y="2240280"/>
            <a:ext cx="2148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41E0D0"/>
                </a:solidFill>
                <a:latin typeface="Calibri"/>
              </a:rPr>
              <a:t>Unique selling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344" y="3063240"/>
            <a:ext cx="2148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CADCFC"/>
                </a:solidFill>
                <a:latin typeface="Calibri"/>
              </a:rPr>
              <a:t>Detection + classification + Bayesian parameters + explainability in one validated pipeline, proven by injection-recovery tests. Accurate and fully transparent - never a black 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06695" y="60084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8839" y="189292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48153" y="1187268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38707" y="615747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1200" y="325500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4839" y="1621404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20551" y="3408140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35317" y="532610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707564" y="3572101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47025" y="213540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7053" y="1598007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37479" y="5016717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1364" y="341839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07595" y="3215387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997810" y="299863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6328" y="395656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8608" y="434827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82394" y="235796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1721" y="485378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92928" y="181245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61681" y="3310477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806734" y="2284507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57445" y="876073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66825" y="189466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212323" y="2260730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54607" y="38444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CAPABILITIES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the solution does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41732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04088" y="1664208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9848" y="150876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Transit-safe detrending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1801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GP + Savitzky-Golay removes noise, keeps 100 ppm dips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63440" y="141732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64607" y="1664208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30368" y="150876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4-class signal typing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180136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Transit, eclipsing binary, blend, or starspot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224028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4088" y="2487168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" y="233172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U-vs-V disentanglement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" y="26243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Attention learns transit vs binary geometry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63440" y="224028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64607" y="2487168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233172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Differentiable parameters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30368" y="262432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Period, depth, duration with calibrated bounds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306324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4088" y="3310128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9848" y="315468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False-positive vetting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9848" y="344728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Centroid / difference imaging kills blends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663440" y="306324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864607" y="3310128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30368" y="3154680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Monotransit recovery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30368" y="344728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Finds single-transit, long-period planets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388620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04088" y="4133087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69848" y="3977639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Explainable visuals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9848" y="42702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Phase-folded curves with attention overlays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63440" y="3886200"/>
            <a:ext cx="3977639" cy="713232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864607" y="4133087"/>
            <a:ext cx="201168" cy="201168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230368" y="3977639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Honest validation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30368" y="4270248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AAED6"/>
                </a:solidFill>
                <a:latin typeface="Calibri"/>
              </a:rPr>
              <a:t>Injection-recovery completeness &amp; SNR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673336" y="3754206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044897" y="1321202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5892" y="2407590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244" y="1322575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3041" y="4374744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34769" y="776640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344" y="4394227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95254" y="910399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707359" y="2753996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0793" y="1063581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28106" y="910891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65227" y="4127566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3010" y="417443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99455" y="1650750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69673" y="135640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96331" y="2087747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75616" y="136266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80607" y="4804010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22192" y="474302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91131" y="1330294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97924" y="4027953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66868" y="54166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40970" y="82319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76541" y="163424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49346" y="318645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38924" y="331178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PROCESS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Nine-stage detection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1325880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1792" y="1472184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147218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182880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ED6"/>
                </a:solidFill>
                <a:latin typeface="Calibri"/>
              </a:rPr>
              <a:t>lightkurve, astroquery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54680" y="1325880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319272" y="1472184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21608" y="147218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Detrending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21608" y="182880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ED6"/>
                </a:solidFill>
                <a:latin typeface="Calibri"/>
              </a:rPr>
              <a:t>wotan, celerite2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52160" y="1325880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16752" y="1472184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088" y="1472184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Candidate + fold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088" y="182880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ED6"/>
                </a:solidFill>
                <a:latin typeface="Calibri"/>
              </a:rPr>
              <a:t>transitleastsquares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441448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 w="15240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1792" y="2587752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" y="25877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" y="294436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1E0D0"/>
                </a:solidFill>
                <a:latin typeface="Calibri"/>
              </a:rPr>
              <a:t>Transformer + XGBoost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154680" y="2441448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 w="15240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319272" y="2587752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21608" y="25877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Parameter estimation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21608" y="294436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1E0D0"/>
                </a:solidFill>
                <a:latin typeface="Calibri"/>
              </a:rPr>
              <a:t>diff. batman + sbi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852160" y="2441448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016752" y="2587752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2587752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Vetting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2944368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ED6"/>
                </a:solidFill>
                <a:latin typeface="Calibri"/>
              </a:rPr>
              <a:t>centroid, triceratops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3557015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21792" y="3703320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4128" y="370332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Explainability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" y="4059935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ED6"/>
                </a:solidFill>
                <a:latin typeface="Calibri"/>
              </a:rPr>
              <a:t>attention, matplotlib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154680" y="3557015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319272" y="3703320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21608" y="370332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21608" y="4059935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ED6"/>
                </a:solidFill>
                <a:latin typeface="Calibri"/>
              </a:rPr>
              <a:t>injection-recovery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852160" y="3557015"/>
            <a:ext cx="2560320" cy="93268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016752" y="3703320"/>
            <a:ext cx="310896" cy="310896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437"/>
                </a:solidFill>
                <a:latin typeface="Calibri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3703320"/>
            <a:ext cx="18745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19088" y="4059935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9AAED6"/>
                </a:solidFill>
                <a:latin typeface="Calibri"/>
              </a:rPr>
              <a:t>Streamlit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00655" y="4150051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21413" y="81026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6395" y="1668489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277500" y="369513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23727" y="556627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558144" y="526501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6030" y="404304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1817" y="1064978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0811" y="4549070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553571" y="1047997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5979" y="2213139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5140" y="4437058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30343" y="1633406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087428" y="3040977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07148" y="3291045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17300" y="1519189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80995" y="3776554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045564" y="4069620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97335" y="448363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496831" y="46903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15060" y="2111298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86612" y="2320138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912005" y="1331496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6522" y="171813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7770" y="2173905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345363" y="2454350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MOCK-UP (OPTIONAL)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Live inspector dashboard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371600"/>
            <a:ext cx="8138160" cy="329184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1554480"/>
            <a:ext cx="7772400" cy="45720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162763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APEX-ORACLE  -  Exoplanet Inspector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0" y="1627632"/>
            <a:ext cx="1737360" cy="310896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1645920"/>
            <a:ext cx="1645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CADCFC"/>
                </a:solidFill>
                <a:latin typeface="Calibri"/>
              </a:rPr>
              <a:t>TIC 307210830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1627632"/>
            <a:ext cx="960120" cy="310896"/>
          </a:xfrm>
          <a:prstGeom prst="roundRect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0B1437"/>
                </a:solidFill>
              </a:rPr>
              <a:t>Analyze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2148840"/>
            <a:ext cx="4663440" cy="237744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224028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CADCFC"/>
                </a:solidFill>
                <a:latin typeface="Calibri"/>
              </a:rPr>
              <a:t>Phase-folded light curve + attention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8680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68626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68572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68518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268464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368410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68356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568302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68248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768194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868140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968086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068032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167978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267924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367870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467816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567762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2667708" y="3193084"/>
            <a:ext cx="99946" cy="388291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767654" y="3581375"/>
            <a:ext cx="99946" cy="322198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867600" y="3903573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967546" y="3903573"/>
            <a:ext cx="99947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67493" y="3903573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167439" y="3581375"/>
            <a:ext cx="99946" cy="322198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267385" y="3193084"/>
            <a:ext cx="99946" cy="388291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367331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3467277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3567223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667169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3767115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867061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967007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066953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166899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266845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366791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66737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66683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666629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766575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866521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966467" y="3193084"/>
            <a:ext cx="99946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066413" y="3193084"/>
            <a:ext cx="99947" cy="0"/>
          </a:xfrm>
          <a:prstGeom prst="line">
            <a:avLst/>
          </a:prstGeom>
          <a:ln w="25400">
            <a:solidFill>
              <a:srgbClr val="41E0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486400" y="2148840"/>
            <a:ext cx="2971800" cy="566928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0" y="224028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41E0D0"/>
                </a:solidFill>
                <a:latin typeface="Calibri"/>
              </a:rPr>
              <a:t>TRANSIT</a:t>
            </a:r>
            <a:r>
              <a:rPr sz="1300" b="0">
                <a:solidFill>
                  <a:srgbClr val="FFFFFF"/>
                </a:solidFill>
                <a:latin typeface="Calibri"/>
              </a:rPr>
              <a:t>   confidence 96%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532120" y="28163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ED6"/>
                </a:solidFill>
                <a:latin typeface="Calibri"/>
              </a:rPr>
              <a:t>Period:  </a:t>
            </a:r>
            <a:r>
              <a:rPr sz="1100" b="1">
                <a:solidFill>
                  <a:srgbClr val="FFFFFF"/>
                </a:solidFill>
                <a:latin typeface="Calibri"/>
              </a:rPr>
              <a:t>3.41 d  +/- 0.02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32120" y="3246120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ED6"/>
                </a:solidFill>
                <a:latin typeface="Calibri"/>
              </a:rPr>
              <a:t>Depth:  </a:t>
            </a:r>
            <a:r>
              <a:rPr sz="1100" b="1">
                <a:solidFill>
                  <a:srgbClr val="FFFFFF"/>
                </a:solidFill>
                <a:latin typeface="Calibri"/>
              </a:rPr>
              <a:t>910 ppm  +/- 40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32120" y="3675887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ED6"/>
                </a:solidFill>
                <a:latin typeface="Calibri"/>
              </a:rPr>
              <a:t>Duration:  </a:t>
            </a:r>
            <a:r>
              <a:rPr sz="1100" b="1">
                <a:solidFill>
                  <a:srgbClr val="FFFFFF"/>
                </a:solidFill>
                <a:latin typeface="Calibri"/>
              </a:rPr>
              <a:t>2.7 h  +/- 0.1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532120" y="4105656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ED6"/>
                </a:solidFill>
                <a:latin typeface="Calibri"/>
              </a:rPr>
              <a:t>Vetting:  </a:t>
            </a:r>
            <a:r>
              <a:rPr sz="1100" b="1">
                <a:solidFill>
                  <a:srgbClr val="FFFFFF"/>
                </a:solidFill>
                <a:latin typeface="Calibri"/>
              </a:rPr>
              <a:t>on-target, FPP 0.4%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93344" y="836297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93542" y="189712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15376" y="515826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4330" y="2187613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42554" y="297013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46141" y="4911953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4835" y="216104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111972" y="3459005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16820" y="1930249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38459" y="2542615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63754" y="4651171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09969" y="3542906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2008" y="2536205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71684" y="493130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69685" y="178042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12208" y="474711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29430" y="2543900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0164" y="1424335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7594" y="3286806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48563" y="3393086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76796" y="3108014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75667" y="730090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07140" y="2543070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15036" y="4453377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86404" y="2142074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500620" y="1230835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APEX-ORACLE hybrid pipeline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" y="1508760"/>
            <a:ext cx="1517904" cy="160020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1673351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Data &amp; labels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2350008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TESS / MAST,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Gaia DR3, TOI</a:t>
            </a:r>
          </a:p>
        </p:txBody>
      </p:sp>
      <p:sp>
        <p:nvSpPr>
          <p:cNvPr id="34" name="Chevron 33"/>
          <p:cNvSpPr/>
          <p:nvPr/>
        </p:nvSpPr>
        <p:spPr>
          <a:xfrm>
            <a:off x="1792224" y="2153412"/>
            <a:ext cx="274320" cy="310896"/>
          </a:xfrm>
          <a:prstGeom prst="chevron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048255" y="1508760"/>
            <a:ext cx="1517904" cy="160020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67127" y="1673351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Detrend + BLS/TLS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67127" y="2350008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transit-safe GP,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candidate search</a:t>
            </a:r>
          </a:p>
        </p:txBody>
      </p:sp>
      <p:sp>
        <p:nvSpPr>
          <p:cNvPr id="38" name="Oval 37"/>
          <p:cNvSpPr/>
          <p:nvPr/>
        </p:nvSpPr>
        <p:spPr>
          <a:xfrm>
            <a:off x="3182111" y="2724912"/>
            <a:ext cx="274320" cy="27432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B1437"/>
                </a:solidFill>
              </a:rPr>
              <a:t>A</a:t>
            </a:r>
          </a:p>
        </p:txBody>
      </p:sp>
      <p:sp>
        <p:nvSpPr>
          <p:cNvPr id="39" name="Chevron 38"/>
          <p:cNvSpPr/>
          <p:nvPr/>
        </p:nvSpPr>
        <p:spPr>
          <a:xfrm>
            <a:off x="3547871" y="2153412"/>
            <a:ext cx="274320" cy="310896"/>
          </a:xfrm>
          <a:prstGeom prst="chevron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803904" y="1508760"/>
            <a:ext cx="1517904" cy="160020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 w="16510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22776" y="1673351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Transformer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22776" y="2350008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multimodal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classifier</a:t>
            </a:r>
          </a:p>
        </p:txBody>
      </p:sp>
      <p:sp>
        <p:nvSpPr>
          <p:cNvPr id="43" name="Oval 42"/>
          <p:cNvSpPr/>
          <p:nvPr/>
        </p:nvSpPr>
        <p:spPr>
          <a:xfrm>
            <a:off x="4937760" y="2724912"/>
            <a:ext cx="274320" cy="27432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B1437"/>
                </a:solidFill>
              </a:rPr>
              <a:t>B</a:t>
            </a:r>
          </a:p>
        </p:txBody>
      </p:sp>
      <p:sp>
        <p:nvSpPr>
          <p:cNvPr id="44" name="Chevron 43"/>
          <p:cNvSpPr/>
          <p:nvPr/>
        </p:nvSpPr>
        <p:spPr>
          <a:xfrm>
            <a:off x="5303520" y="2153412"/>
            <a:ext cx="274320" cy="310896"/>
          </a:xfrm>
          <a:prstGeom prst="chevron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559552" y="1508760"/>
            <a:ext cx="1517904" cy="1600200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 w="16510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78424" y="1673351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Diff. batman + SBI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78424" y="2350008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Bayesian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parameters</a:t>
            </a:r>
          </a:p>
        </p:txBody>
      </p:sp>
      <p:sp>
        <p:nvSpPr>
          <p:cNvPr id="48" name="Oval 47"/>
          <p:cNvSpPr/>
          <p:nvPr/>
        </p:nvSpPr>
        <p:spPr>
          <a:xfrm>
            <a:off x="6693408" y="2724912"/>
            <a:ext cx="274320" cy="27432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B1437"/>
                </a:solidFill>
              </a:rPr>
              <a:t>C</a:t>
            </a:r>
          </a:p>
        </p:txBody>
      </p:sp>
      <p:sp>
        <p:nvSpPr>
          <p:cNvPr id="49" name="Chevron 48"/>
          <p:cNvSpPr/>
          <p:nvPr/>
        </p:nvSpPr>
        <p:spPr>
          <a:xfrm>
            <a:off x="7059168" y="2153412"/>
            <a:ext cx="274320" cy="310896"/>
          </a:xfrm>
          <a:prstGeom prst="chevron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0" y="1508760"/>
            <a:ext cx="1517904" cy="160020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2" y="1673351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Vetting +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34072" y="2350008"/>
            <a:ext cx="1280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centroid, FPP,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XAI overlays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92608" y="3429000"/>
            <a:ext cx="8558784" cy="566928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 w="12700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3502152"/>
            <a:ext cx="8229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>
                <a:solidFill>
                  <a:srgbClr val="41E0D0"/>
                </a:solidFill>
                <a:latin typeface="Calibri"/>
              </a:rPr>
              <a:t>Reproducibility &amp; infra:   </a:t>
            </a:r>
            <a:r>
              <a:rPr sz="1150" b="0">
                <a:solidFill>
                  <a:srgbClr val="FFFFFF"/>
                </a:solidFill>
                <a:latin typeface="Calibri"/>
              </a:rPr>
              <a:t>uv  -  Hydra / OmegaConf  -  Weights &amp; Biases  -  PyTorch Lightning  -  injection-recovery harness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92608" y="411480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ED6"/>
                </a:solidFill>
                <a:latin typeface="Calibri"/>
              </a:rPr>
              <a:t>A = fast front-end   .   B = detection spine   .   C = parameter &amp; confidence 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2978" y="4843021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83744" y="767137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2905" y="249811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14043" y="419235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3147" y="3553608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56438" y="3676263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87875" y="1999238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11671" y="1248945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13671" y="4542213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927898" y="276432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00803" y="2344358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87842" y="4427171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79867" y="2717380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04501" y="4256405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279260" y="149551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68628" y="4599935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7278" y="155156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85594" y="1952610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42408" y="912005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59912" y="1572988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722" y="4221366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37379" y="2876323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65137" y="1517190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34569" y="3865271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83187" y="250224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756" y="175096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TECHNOLOGY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Technologies used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41732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1581912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1E0D0"/>
                </a:solidFill>
                <a:latin typeface="Calibri"/>
              </a:rPr>
              <a:t>Data &amp; astronomy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" y="1965960"/>
            <a:ext cx="2240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lightkurve  -  astropy  -  astroquery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transitleastsquares  -  wotan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141732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288" y="1581912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1E0D0"/>
                </a:solidFill>
                <a:latin typeface="Calibri"/>
              </a:rPr>
              <a:t>Detrending &amp; GP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7288" y="1965960"/>
            <a:ext cx="2240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wotan  -  celerite2  -  gpytorch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141732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1581912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1E0D0"/>
                </a:solidFill>
                <a:latin typeface="Calibri"/>
              </a:rPr>
              <a:t>Deep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90488" y="1965960"/>
            <a:ext cx="2240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PyTorch  -  Lightning  -  timm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Transformers  -  XGBoost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2907791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" y="3072384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1E0D0"/>
                </a:solidFill>
                <a:latin typeface="Calibri"/>
              </a:rPr>
              <a:t>Physics &amp; Bayesian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" y="3456432"/>
            <a:ext cx="2240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batman  -  sbi  -  dynesty  -  emcee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46120" y="2907791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47288" y="3072384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1E0D0"/>
                </a:solidFill>
                <a:latin typeface="Calibri"/>
              </a:rPr>
              <a:t>Vetting &amp; XAI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47288" y="3456432"/>
            <a:ext cx="2240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triceratops  -  attention maps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matplotlib  -  plotly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2907791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90488" y="3072384"/>
            <a:ext cx="2240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41E0D0"/>
                </a:solidFill>
                <a:latin typeface="Calibri"/>
              </a:rPr>
              <a:t>Infra &amp; delivery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0488" y="3456432"/>
            <a:ext cx="22402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uv  -  Hydra  -  Weights &amp; Biases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ADCFC"/>
                </a:solidFill>
                <a:latin typeface="Calibri"/>
              </a:rPr>
              <a:t>Streamlit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46177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AAED6"/>
                </a:solidFill>
                <a:latin typeface="Calibri"/>
              </a:rPr>
              <a:t>Language: Python 3.11   .   Compute: GPU for training, CPU-capable inference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240504" y="1934764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154924" y="1762010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5629" y="282829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9581" y="4763624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24295" y="639272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529506" y="3775479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8112" y="119898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014624" y="4591612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45562" y="1076440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2413" y="1961944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12835" y="3726784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6160" y="3865681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11024" y="132189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4678" y="2564286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67314" y="431257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568" y="2954354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40177" y="294876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25291" y="828669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46608" y="260499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213308" y="3109040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9552" y="2669241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6857" y="4445105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95336" y="4960425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37531" y="94476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070306" y="1694777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644346" y="2646751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41E0D0"/>
                </a:solidFill>
                <a:latin typeface="Calibri"/>
              </a:rPr>
              <a:t>ESTIMATED COST (OPTIONAL)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Near-zero, fully reproducible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1554480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1645920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1E0D0"/>
                </a:solidFill>
                <a:latin typeface="Calibri"/>
              </a:rPr>
              <a:t>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164592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TESS archive (MAST)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1645920"/>
            <a:ext cx="960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2304288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2395728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1E0D0"/>
                </a:solidFill>
                <a:latin typeface="Calibri"/>
              </a:rPr>
              <a:t>Software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239572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100% open-source stack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2395728"/>
            <a:ext cx="960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3054096"/>
            <a:ext cx="5486400" cy="640080"/>
          </a:xfrm>
          <a:prstGeom prst="roundRect">
            <a:avLst>
              <a:gd name="adj" fmla="val 8000"/>
            </a:avLst>
          </a:prstGeom>
          <a:solidFill>
            <a:srgbClr val="152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3145536"/>
            <a:ext cx="1554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41E0D0"/>
                </a:solidFill>
                <a:latin typeface="Calibri"/>
              </a:rPr>
              <a:t>Compute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145536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Kaggle / Colab GPU, or short cloud-GPU rental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3145536"/>
            <a:ext cx="960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Rs 0 - 8,000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1554480"/>
            <a:ext cx="2377440" cy="2139696"/>
          </a:xfrm>
          <a:prstGeom prst="roundRect">
            <a:avLst>
              <a:gd name="adj" fmla="val 8000"/>
            </a:avLst>
          </a:prstGeom>
          <a:solidFill>
            <a:srgbClr val="1E2C66"/>
          </a:solidFill>
          <a:ln w="16510">
            <a:solidFill>
              <a:srgbClr val="41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1874519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AED6"/>
                </a:solidFill>
                <a:latin typeface="Calibri"/>
              </a:rPr>
              <a:t>TOTAL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224028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>
                <a:solidFill>
                  <a:srgbClr val="41E0D0"/>
                </a:solidFill>
                <a:latin typeface="Calibri"/>
              </a:rPr>
              <a:t>~ Rs 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1546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ADCFC"/>
                </a:solidFill>
                <a:latin typeface="Calibri"/>
              </a:rPr>
              <a:t>to a few thousand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343400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ED6"/>
                </a:solidFill>
                <a:latin typeface="Calibri"/>
              </a:rPr>
              <a:t>Low-risk and deployable: open data, open tools, runs on free-tier GPUs - the cost is engineering effort, not capital.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211847" y="2209191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79709" y="4158124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83155" y="467150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99446" y="3069850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500926" y="138671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22324" y="748054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87535" y="309988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38439" y="4582768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43742" y="3383394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3860" y="297778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81787" y="1268473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21482" y="3339947"/>
            <a:ext cx="12700" cy="1270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4505" y="1939025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902" y="568456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802351" y="1813143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92077" y="800073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84301" y="158545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93972" y="1807663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73911" y="307086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37167" y="2090208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83541" y="3416296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983302" y="1432993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3961" y="2507911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08006" y="2764212"/>
            <a:ext cx="22860" cy="2286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81454" y="910103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819414" y="4185171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3381" y="1817868"/>
            <a:ext cx="17780" cy="177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160490" y="4993095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16252" y="3916236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413459" y="3985998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911948" y="4582533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986436" y="253890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365315" y="4186932"/>
            <a:ext cx="30480" cy="3048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34298" y="1554402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55021" y="319741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649711" y="3399745"/>
            <a:ext cx="17780" cy="177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81891" y="3976715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91706" y="2198611"/>
            <a:ext cx="12700" cy="1270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855980" y="4842570"/>
            <a:ext cx="30480" cy="30480"/>
          </a:xfrm>
          <a:prstGeom prst="ellipse">
            <a:avLst/>
          </a:prstGeom>
          <a:solidFill>
            <a:srgbClr val="6E8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753538" y="1120995"/>
            <a:ext cx="22860" cy="22860"/>
          </a:xfrm>
          <a:prstGeom prst="ellipse">
            <a:avLst/>
          </a:prstGeom>
          <a:solidFill>
            <a:srgbClr val="41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41E0D0"/>
                </a:solidFill>
                <a:latin typeface="Calibri"/>
              </a:rPr>
              <a:t>APEX-ORACLE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2057400"/>
            <a:ext cx="8046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Detect.  Explain.  Trust.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5468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Finding new worlds in the noise - and proving every discovery.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ED6"/>
                </a:solidFill>
                <a:latin typeface="Calibri"/>
              </a:rPr>
              <a:t>Bharatiya Antariksh Hackathon 2026   .   [YOUR NAME]   .   [YOUR TEAM NAME]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